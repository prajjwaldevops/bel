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/>
            </a:pPr>
            <a:r>
              <a:t>Problem Statement Title - Blockchain-Based Secure Platform for Identity, Access Control, and Digital Asset Management</a:t>
            </a:r>
          </a:p>
          <a:p>
            <a:pPr>
              <a:defRPr sz="1300"/>
            </a:pPr>
            <a:r>
              <a:t>Theme - Cybersecurity / Blockchain | PS Category - Software</a:t>
            </a:r>
          </a:p>
          <a:p>
            <a:pPr>
              <a:defRPr sz="1300"/>
            </a:pPr>
            <a:r>
              <a:t>Team ID - TBA | Team Name (Registered on portal) - BEL SENTINEL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EXECUTIVE SUMMARY &amp; DETAILED ANALYSIS:</a:t>
            </a:r>
          </a:p>
          <a:p>
            <a:pPr>
              <a:defRPr sz="1300"/>
            </a:pPr>
            <a:r>
              <a:t>• Objective: Eradicate single points of failure in centralized Identity &amp; Access Management (IAM).</a:t>
            </a:r>
          </a:p>
          <a:p>
            <a:pPr>
              <a:defRPr sz="1300"/>
            </a:pPr>
            <a:r>
              <a:t>• Architecture Flow: User Wallet -&gt; Next.js Frontend -&gt; Smart Contracts -&gt; Merkle-Batched Audit Log.</a:t>
            </a:r>
          </a:p>
          <a:p>
            <a:pPr>
              <a:defRPr sz="1300"/>
            </a:pPr>
            <a:r>
              <a:t>• Market Context: Modern security demands absolute Zero-Trust; current active-directory models act as lucrative honeypots.</a:t>
            </a:r>
          </a:p>
          <a:p>
            <a:pPr>
              <a:defRPr sz="1300"/>
            </a:pPr>
            <a:r>
              <a:t>• Tech Stack Integration: Next.js (UX/UI), Supabase (PostgreSQL RLS for off-chain speed), Solidity EVM (Immutable logic), Cloudflare R2 / IPFS (Decentralized Object Storage).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IDEA: BEL SENTINEL - Decentralized Identity &amp; Asset Ecosystem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/>
            </a:pPr>
            <a:r>
              <a:t>Detailed Proposed Solution &amp; Core System Flow:</a:t>
            </a:r>
          </a:p>
          <a:p>
            <a:pPr>
              <a:spcAft>
                <a:spcPts val="200"/>
              </a:spcAft>
              <a:defRPr sz="1200"/>
            </a:pPr>
            <a:r>
              <a:t>1. Decentralized Identifiers (DIDs):</a:t>
            </a:r>
          </a:p>
          <a:p>
            <a:pPr>
              <a:spcAft>
                <a:spcPts val="200"/>
              </a:spcAft>
              <a:defRPr sz="1200"/>
            </a:pPr>
            <a:r>
              <a:t>   ➔ Users link a self-custodial wallet to receive an untransferable 'Soulbound' Identity NFT.</a:t>
            </a:r>
          </a:p>
          <a:p>
            <a:pPr>
              <a:spcAft>
                <a:spcPts val="200"/>
              </a:spcAft>
              <a:defRPr sz="1200"/>
            </a:pPr>
            <a:r>
              <a:t>   ➔ Cryptographically proves identity without storing passwords in a central database.</a:t>
            </a:r>
          </a:p>
          <a:p>
            <a:pPr>
              <a:spcAft>
                <a:spcPts val="200"/>
              </a:spcAft>
              <a:defRPr sz="1200"/>
            </a:pPr>
            <a:r>
              <a:t>2. Immutable Asset Lifecycle (NFTs):</a:t>
            </a:r>
          </a:p>
          <a:p>
            <a:pPr>
              <a:spcAft>
                <a:spcPts val="200"/>
              </a:spcAft>
              <a:defRPr sz="1200"/>
            </a:pPr>
            <a:r>
              <a:t>   ➔ Physical/Digital assets minted as ERC-721 NFTs. Status flows strictly: CREATED ➔ ASSIGNED ➔ ACTIVE ➔ TRANSFERRED ➔ DECOMMISSIONED.</a:t>
            </a:r>
          </a:p>
          <a:p>
            <a:pPr>
              <a:spcAft>
                <a:spcPts val="200"/>
              </a:spcAft>
              <a:defRPr sz="1200"/>
            </a:pPr>
            <a:r>
              <a:t>3. Hybrid Role-Based Access Control (RBAC):</a:t>
            </a:r>
          </a:p>
          <a:p>
            <a:pPr>
              <a:spcAft>
                <a:spcPts val="200"/>
              </a:spcAft>
              <a:defRPr sz="1200"/>
            </a:pPr>
            <a:r>
              <a:t>   ➔ Off-Chain: Supabase Row Level Security (RLS) handles fast, high-volume reads.</a:t>
            </a:r>
          </a:p>
          <a:p>
            <a:pPr>
              <a:spcAft>
                <a:spcPts val="200"/>
              </a:spcAft>
              <a:defRPr sz="1200"/>
            </a:pPr>
            <a:r>
              <a:t>   ➔ On-Chain: Solidity RoleManager contract enforces immutable write-permissions.</a:t>
            </a:r>
          </a:p>
          <a:p>
            <a:pPr>
              <a:spcAft>
                <a:spcPts val="200"/>
              </a:spcAft>
              <a:defRPr sz="1200"/>
            </a:pPr>
            <a:r>
              <a:t>4. Merkle-Batched Auditing (Gas Optimized):</a:t>
            </a:r>
          </a:p>
          <a:p>
            <a:pPr>
              <a:spcAft>
                <a:spcPts val="200"/>
              </a:spcAft>
              <a:defRPr sz="1200"/>
            </a:pPr>
            <a:r>
              <a:t>   ➔ 1,000+ access logs are hashed into a single Merkle Root off-chain, then anchored to the EVM periodicially (saves 99% gas fees).</a:t>
            </a:r>
          </a:p>
          <a:p>
            <a:pPr>
              <a:spcAft>
                <a:spcPts val="200"/>
              </a:spcAft>
              <a:defRPr sz="1200"/>
            </a:pPr>
            <a:r>
              <a:t>5. Guardian Social Recovery:</a:t>
            </a:r>
          </a:p>
          <a:p>
            <a:pPr>
              <a:spcAft>
                <a:spcPts val="200"/>
              </a:spcAft>
              <a:defRPr sz="1200"/>
            </a:pPr>
            <a:r>
              <a:t>   ➔ Mitigates key-loss risks by requiring an M-of-N consensus of 'Guardian' wallets to recover a lost identity.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/>
            </a:pPr>
            <a:r>
              <a:t>Technical Approach &amp; Flow Architecture:</a:t>
            </a:r>
          </a:p>
          <a:p>
            <a:pPr>
              <a:spcAft>
                <a:spcPts val="200"/>
              </a:spcAft>
              <a:defRPr sz="1200"/>
            </a:pPr>
            <a:r>
              <a:t>• Front-End (Web2 UX): Next.js 16 App Router + TailwindCSS.</a:t>
            </a:r>
          </a:p>
          <a:p>
            <a:pPr>
              <a:spcAft>
                <a:spcPts val="200"/>
              </a:spcAft>
              <a:defRPr sz="1200"/>
            </a:pPr>
            <a:r>
              <a:t>  ➔ Seamless wallet connection via Wagmi/Viem, hiding Web3 friction.</a:t>
            </a:r>
          </a:p>
          <a:p>
            <a:pPr>
              <a:spcAft>
                <a:spcPts val="200"/>
              </a:spcAft>
              <a:defRPr sz="1200"/>
            </a:pPr>
            <a:r>
              <a:t>• Back-End Data Layer: Supabase (PostgreSQL 14+ with pgcrypto).</a:t>
            </a:r>
          </a:p>
          <a:p>
            <a:pPr>
              <a:spcAft>
                <a:spcPts val="200"/>
              </a:spcAft>
              <a:defRPr sz="1200"/>
            </a:pPr>
            <a:r>
              <a:t>  ➔ Handles encrypted biometric data hashes, robust relational metadata, and confidential logs.</a:t>
            </a:r>
          </a:p>
          <a:p>
            <a:pPr>
              <a:spcAft>
                <a:spcPts val="200"/>
              </a:spcAft>
              <a:defRPr sz="1200"/>
            </a:pPr>
            <a:r>
              <a:t>• Blockchain Layer (Web3): Solidity 0.8.28 + OpenZeppelin.</a:t>
            </a:r>
          </a:p>
          <a:p>
            <a:pPr>
              <a:spcAft>
                <a:spcPts val="200"/>
              </a:spcAft>
              <a:defRPr sz="1200"/>
            </a:pPr>
            <a:r>
              <a:t>  ➔ IdentityRegistry.sol, AssetNFT.sol, RoleManager.sol deployed on local Hardhat (production: Polygon).</a:t>
            </a:r>
          </a:p>
          <a:p>
            <a:pPr>
              <a:spcAft>
                <a:spcPts val="200"/>
              </a:spcAft>
              <a:defRPr sz="1200"/>
            </a:pPr>
            <a:r>
              <a:t>• Storage Layer: IPFS/Pinata (Immutable Documents) &amp; Cloudflare R2 (Biometric Images).</a:t>
            </a:r>
          </a:p>
          <a:p>
            <a:pPr>
              <a:spcAft>
                <a:spcPts val="200"/>
              </a:spcAft>
              <a:defRPr sz="1200"/>
            </a:pPr>
          </a:p>
          <a:p>
            <a:pPr>
              <a:spcAft>
                <a:spcPts val="200"/>
              </a:spcAft>
              <a:defRPr sz="1200"/>
            </a:pPr>
            <a:r>
              <a:t>FLOW: User Wallet Signature ➔ Frontend Validates ➔ Backend Syncs Metadata ➔ Smart Contract Mints NFT ➔ Off-chain Indexer Updates UI.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/>
            </a:pPr>
            <a:r>
              <a:t>Feasibility, Scalability, and Risk Mitigation:</a:t>
            </a:r>
          </a:p>
          <a:p>
            <a:pPr>
              <a:spcAft>
                <a:spcPts val="200"/>
              </a:spcAft>
              <a:defRPr sz="1200"/>
            </a:pPr>
            <a:r>
              <a:t>• Proven Infrastructure: Built on mature OpenZeppelin standards and enterprise-ready Supabase.</a:t>
            </a:r>
          </a:p>
          <a:p>
            <a:pPr>
              <a:spcAft>
                <a:spcPts val="200"/>
              </a:spcAft>
              <a:defRPr sz="1200"/>
            </a:pPr>
            <a:r>
              <a:t>• Challenge (Gas Costs): Writing every log on-chain is too expensive.</a:t>
            </a:r>
          </a:p>
          <a:p>
            <a:pPr>
              <a:spcAft>
                <a:spcPts val="200"/>
              </a:spcAft>
              <a:defRPr sz="1200"/>
            </a:pPr>
            <a:r>
              <a:t>  ➔ Solution: Off-chain event queue + Merkle root anchoring.</a:t>
            </a:r>
          </a:p>
          <a:p>
            <a:pPr>
              <a:spcAft>
                <a:spcPts val="200"/>
              </a:spcAft>
              <a:defRPr sz="1200"/>
            </a:pPr>
            <a:r>
              <a:t>• Challenge (Key Management): Users losing wallet keys locks out their identity.</a:t>
            </a:r>
          </a:p>
          <a:p>
            <a:pPr>
              <a:spcAft>
                <a:spcPts val="200"/>
              </a:spcAft>
              <a:defRPr sz="1200"/>
            </a:pPr>
            <a:r>
              <a:t>  ➔ Solution: Guardian-based multi-sig recovery protocol.</a:t>
            </a:r>
          </a:p>
          <a:p>
            <a:pPr>
              <a:spcAft>
                <a:spcPts val="200"/>
              </a:spcAft>
              <a:defRPr sz="1200"/>
            </a:pPr>
            <a:r>
              <a:t>• Challenge (Data Privacy): Public blockchains expose data.</a:t>
            </a:r>
          </a:p>
          <a:p>
            <a:pPr>
              <a:spcAft>
                <a:spcPts val="200"/>
              </a:spcAft>
              <a:defRPr sz="1200"/>
            </a:pPr>
            <a:r>
              <a:t>  ➔ Solution: Store PII off-chain in R2/Supabase, anchor only cryptographic hashes/ZK proofs on-chain.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rbac_abstract_17903655774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288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/>
            </a:pPr>
            <a:r>
              <a:t>Strategic Impact and Enterprise Benefits:</a:t>
            </a:r>
          </a:p>
          <a:p>
            <a:pPr>
              <a:spcAft>
                <a:spcPts val="200"/>
              </a:spcAft>
              <a:defRPr sz="1300"/>
            </a:pPr>
            <a:r>
              <a:t>• Unprecedented Security (Zero-Trust): Cryptographic verification eliminates phishing, password breaches, and internal lateral movement.</a:t>
            </a:r>
          </a:p>
          <a:p>
            <a:pPr>
              <a:spcAft>
                <a:spcPts val="200"/>
              </a:spcAft>
              <a:defRPr sz="1300"/>
            </a:pPr>
            <a:r>
              <a:t>• Absolute Transparent Provenance: Asset histories cannot be forged, manipulated, or deleted, guaranteeing 100% accurate audits.</a:t>
            </a:r>
          </a:p>
          <a:p>
            <a:pPr>
              <a:spcAft>
                <a:spcPts val="200"/>
              </a:spcAft>
              <a:defRPr sz="1300"/>
            </a:pPr>
            <a:r>
              <a:t>• Economic Efficiency: Automates manual compliance reporting and role-lifecycle management through deterministic smart contracts.</a:t>
            </a:r>
          </a:p>
          <a:p>
            <a:pPr>
              <a:spcAft>
                <a:spcPts val="200"/>
              </a:spcAft>
              <a:defRPr sz="1300"/>
            </a:pPr>
            <a:r>
              <a:t>• Broad Applicability:</a:t>
            </a:r>
          </a:p>
          <a:p>
            <a:pPr>
              <a:spcAft>
                <a:spcPts val="200"/>
              </a:spcAft>
              <a:defRPr sz="1300"/>
            </a:pPr>
            <a:r>
              <a:t>  ➔ Defense: Tracking classified gear &amp; personnel clearance.</a:t>
            </a:r>
          </a:p>
          <a:p>
            <a:pPr>
              <a:spcAft>
                <a:spcPts val="200"/>
              </a:spcAft>
              <a:defRPr sz="1300"/>
            </a:pPr>
            <a:r>
              <a:t>  ➔ Healthcare: Securing patient access logs.</a:t>
            </a:r>
          </a:p>
          <a:p>
            <a:pPr>
              <a:spcAft>
                <a:spcPts val="200"/>
              </a:spcAft>
              <a:defRPr sz="1300"/>
            </a:pPr>
            <a:r>
              <a:t>  ➔ Supply Chain: Verifying authentic goods and transfer of custody.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/>
            </a:pPr>
            <a:r>
              <a:t>DETAILED ANALYSIS SUMMARY &amp; REFERENCES:</a:t>
            </a:r>
          </a:p>
          <a:p>
            <a:pPr>
              <a:spcAft>
                <a:spcPts val="200"/>
              </a:spcAft>
              <a:defRPr sz="1200"/>
            </a:pPr>
            <a:r>
              <a:t>• Market Gap: Current centralized IAM solutions are honey-pots. Decentralization is the definitive evolution of enterprise security.</a:t>
            </a:r>
          </a:p>
          <a:p>
            <a:pPr>
              <a:spcAft>
                <a:spcPts val="200"/>
              </a:spcAft>
              <a:defRPr sz="1200"/>
            </a:pPr>
            <a:r>
              <a:t>• Core Strength: The dual-layer approach (PostgreSQL + EVM) achieves Web2 speed with Web3 immutability. No other platform offers Merkle-batched audit logs out-of-the-box.</a:t>
            </a:r>
          </a:p>
          <a:p>
            <a:pPr>
              <a:spcAft>
                <a:spcPts val="200"/>
              </a:spcAft>
              <a:defRPr sz="1200"/>
            </a:pPr>
            <a:r>
              <a:t>• Regulatory Alignment: GDPR Article 17 (Right to Erasure) is satisfied by off-chain PII deletion (leaving only anonymous hashes on-chain).</a:t>
            </a:r>
          </a:p>
          <a:p>
            <a:pPr>
              <a:spcAft>
                <a:spcPts val="200"/>
              </a:spcAft>
              <a:defRPr sz="1200"/>
            </a:pPr>
            <a:r>
              <a:t>• References &amp; Standards:</a:t>
            </a:r>
          </a:p>
          <a:p>
            <a:pPr>
              <a:spcAft>
                <a:spcPts val="200"/>
              </a:spcAft>
              <a:defRPr sz="1200"/>
            </a:pPr>
            <a:r>
              <a:t>  1. Decentralized Identity Foundation (DIF) - DID Core v1.0.</a:t>
            </a:r>
          </a:p>
          <a:p>
            <a:pPr>
              <a:spcAft>
                <a:spcPts val="200"/>
              </a:spcAft>
              <a:defRPr sz="1200"/>
            </a:pPr>
            <a:r>
              <a:t>  2. NIST SP 800-207 - Zero Trust Architecture Guidelines.</a:t>
            </a:r>
          </a:p>
          <a:p>
            <a:pPr>
              <a:spcAft>
                <a:spcPts val="200"/>
              </a:spcAft>
              <a:defRPr sz="1200"/>
            </a:pPr>
            <a:r>
              <a:t>  3. ERC-721 Standard - Non-Fungible Tokens (EIPs).</a:t>
            </a:r>
          </a:p>
          <a:p>
            <a:pPr>
              <a:spcAft>
                <a:spcPts val="200"/>
              </a:spcAft>
              <a:defRPr sz="1200"/>
            </a:pPr>
            <a:r>
              <a:t>  4. Merkle Tree Off-Chain Scaling architectures.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